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21"/>
    <p:restoredTop sz="87933"/>
  </p:normalViewPr>
  <p:slideViewPr>
    <p:cSldViewPr snapToGrid="0" snapToObjects="1">
      <p:cViewPr>
        <p:scale>
          <a:sx n="105" d="100"/>
          <a:sy n="105" d="100"/>
        </p:scale>
        <p:origin x="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50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My project is called Ask My Documents. </a:t>
            </a:r>
            <a:br>
              <a:rPr lang="en-CA" dirty="0"/>
            </a:br>
            <a:br>
              <a:rPr lang="en-CA" dirty="0"/>
            </a:br>
            <a:r>
              <a:rPr lang="en-CA" dirty="0"/>
              <a:t>The problem I wanted to investigate is simple: when an AI gives you an answer about an uploaded document, how do you know that answer actually came from the document?</a:t>
            </a:r>
          </a:p>
          <a:p>
            <a:endParaRPr lang="en-CA" dirty="0"/>
          </a:p>
          <a:p>
            <a:r>
              <a:rPr lang="en-CA" dirty="0"/>
              <a:t>I built and evaluated a transparent Retrieval-Augmented Generation system designed to make that process visible.”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I’ll start with the motivation for the project and the problem I wanted to solve.</a:t>
            </a:r>
          </a:p>
          <a:p>
            <a:endParaRPr lang="en-CA" dirty="0"/>
          </a:p>
          <a:p>
            <a:r>
              <a:rPr lang="en-CA" dirty="0"/>
              <a:t>Then I’ll explain the system I built and how the RAG workflow works.</a:t>
            </a:r>
          </a:p>
          <a:p>
            <a:endParaRPr lang="en-CA" dirty="0"/>
          </a:p>
          <a:p>
            <a:r>
              <a:rPr lang="en-CA" dirty="0"/>
              <a:t>After that, I’ll go through the evaluation design and the main results.</a:t>
            </a:r>
          </a:p>
          <a:p>
            <a:endParaRPr lang="en-CA" dirty="0"/>
          </a:p>
          <a:p>
            <a:r>
              <a:rPr lang="en-CA" dirty="0"/>
              <a:t>I’ll finish with the limitations, what I learned from the project, and my recommendations for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main motivation for this project is </a:t>
            </a:r>
            <a:r>
              <a:rPr lang="en-CA" b="1" dirty="0"/>
              <a:t>trust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Large language models can generate very convincing answers, but a confident answer does not necessarily mean the answer came from the document the user uploaded.</a:t>
            </a:r>
          </a:p>
          <a:p>
            <a:endParaRPr lang="en-CA" dirty="0"/>
          </a:p>
          <a:p>
            <a:r>
              <a:rPr lang="en-CA" dirty="0"/>
              <a:t>For example, if someone uploads a company policy and asks a question about it, I want the system to answer from that policy rather than rely on general model knowledge.</a:t>
            </a:r>
          </a:p>
          <a:p>
            <a:endParaRPr lang="en-CA" dirty="0"/>
          </a:p>
          <a:p>
            <a:r>
              <a:rPr lang="en-CA" dirty="0"/>
              <a:t>That is where RAG becomes useful.</a:t>
            </a:r>
          </a:p>
          <a:p>
            <a:endParaRPr lang="en-CA" dirty="0"/>
          </a:p>
          <a:p>
            <a:r>
              <a:rPr lang="en-CA" dirty="0"/>
              <a:t>The system first searches the uploaded documents, retrieves the most relevant passages, and then gives those passages to the language model.</a:t>
            </a:r>
          </a:p>
          <a:p>
            <a:endParaRPr lang="en-CA" dirty="0"/>
          </a:p>
          <a:p>
            <a:r>
              <a:rPr lang="en-CA" dirty="0"/>
              <a:t>So the main idea here is that a </a:t>
            </a:r>
            <a:r>
              <a:rPr lang="en-CA" b="1" dirty="0"/>
              <a:t>fluent answer is not the same as a verified answer</a:t>
            </a:r>
            <a:r>
              <a:rPr lang="en-CA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overall goal was to design, implement, and evaluate a transparent document question-answering system.</a:t>
            </a:r>
          </a:p>
          <a:p>
            <a:endParaRPr lang="en-CA" dirty="0"/>
          </a:p>
          <a:p>
            <a:r>
              <a:rPr lang="en-CA" dirty="0"/>
              <a:t>I focused on three research questions.</a:t>
            </a:r>
          </a:p>
          <a:p>
            <a:endParaRPr lang="en-CA" dirty="0"/>
          </a:p>
          <a:p>
            <a:r>
              <a:rPr lang="en-CA" dirty="0"/>
              <a:t>how chunking affects retrieval, whether top-3 or top-5 retrieval works better, and whether the system can refuse to answer when there is not enough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 built a local </a:t>
            </a:r>
            <a:r>
              <a:rPr lang="en-CA" dirty="0" err="1"/>
              <a:t>Streamlit</a:t>
            </a:r>
            <a:r>
              <a:rPr lang="en-CA" dirty="0"/>
              <a:t>-based RAG prototype that supports PDF, DOCX, and TXT files.</a:t>
            </a:r>
          </a:p>
          <a:p>
            <a:endParaRPr lang="en-CA" dirty="0"/>
          </a:p>
          <a:p>
            <a:r>
              <a:rPr lang="en-CA" dirty="0"/>
              <a:t>I reused existing services for embeddings, vector search, and generation, while my contribution focused on the workflow around chunking, metadata, retrieval filtering, citations, prompting,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This slide shows the complete workflow.</a:t>
            </a:r>
          </a:p>
          <a:p>
            <a:endParaRPr lang="en-CA" dirty="0"/>
          </a:p>
          <a:p>
            <a:r>
              <a:rPr lang="en-CA" dirty="0"/>
              <a:t>First, the user uploads a PDF, DOCX, or TXT file.</a:t>
            </a:r>
          </a:p>
          <a:p>
            <a:endParaRPr lang="en-CA" dirty="0"/>
          </a:p>
          <a:p>
            <a:r>
              <a:rPr lang="en-CA" dirty="0"/>
              <a:t>The system extracts the text and preserves source information such as the document name and location.</a:t>
            </a:r>
          </a:p>
          <a:p>
            <a:endParaRPr lang="en-CA" dirty="0"/>
          </a:p>
          <a:p>
            <a:r>
              <a:rPr lang="en-CA" dirty="0"/>
              <a:t>The text is then divided into either fixed-size or paragraph-aware chunks.</a:t>
            </a:r>
          </a:p>
          <a:p>
            <a:endParaRPr lang="en-CA" dirty="0"/>
          </a:p>
          <a:p>
            <a:r>
              <a:rPr lang="en-CA" dirty="0"/>
              <a:t>Those chunks are embedded and indexed so they can be searched using vector similarity.</a:t>
            </a:r>
          </a:p>
          <a:p>
            <a:endParaRPr lang="en-CA" dirty="0"/>
          </a:p>
          <a:p>
            <a:r>
              <a:rPr lang="en-CA" dirty="0"/>
              <a:t>When the user asks a question, the system retrieves the most relevant chunks and applies a relevance threshold.</a:t>
            </a:r>
          </a:p>
          <a:p>
            <a:endParaRPr lang="en-CA" dirty="0"/>
          </a:p>
          <a:p>
            <a:r>
              <a:rPr lang="en-CA" dirty="0"/>
              <a:t>The selected passages are then passed to the language model, which is instructed to answer using that evidence and include source labels.</a:t>
            </a:r>
          </a:p>
          <a:p>
            <a:endParaRPr lang="en-CA" dirty="0"/>
          </a:p>
          <a:p>
            <a:r>
              <a:rPr lang="en-CA" dirty="0"/>
              <a:t>So the main principle behind the system is very simple:</a:t>
            </a:r>
          </a:p>
          <a:p>
            <a:endParaRPr lang="en-CA" dirty="0"/>
          </a:p>
          <a:p>
            <a:r>
              <a:rPr lang="en-CA" b="1" dirty="0"/>
              <a:t>evidence first, answer second.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interface makes the RAG process visible.</a:t>
            </a:r>
          </a:p>
          <a:p>
            <a:endParaRPr lang="en-CA" dirty="0"/>
          </a:p>
          <a:p>
            <a:r>
              <a:rPr lang="en-CA" dirty="0"/>
              <a:t> Users can inspect the chunks, similarity scores, retrieved evidence, and the final answer, which also makes the system easier to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For the evaluation, I tested the system using 9 documents and 30 questions, including 6 deliberately unanswerable questions. I compared four configurations using fixed-size and paragraph-aware chunking with top-3 and top-5 retrieval.</a:t>
            </a:r>
          </a:p>
          <a:p>
            <a:endParaRPr lang="en-CA" dirty="0"/>
          </a:p>
          <a:p>
            <a:r>
              <a:rPr lang="en-CA" dirty="0"/>
              <a:t>Because every question was tested under all four configurations, I collected </a:t>
            </a:r>
            <a:r>
              <a:rPr lang="en-CA" b="1" dirty="0"/>
              <a:t>120 main result rows</a:t>
            </a:r>
            <a:r>
              <a:rPr lang="en-CA" dirty="0"/>
              <a:t>, along with </a:t>
            </a:r>
            <a:r>
              <a:rPr lang="en-CA" b="1" dirty="0"/>
              <a:t>480 retrieved-chunk audit rows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I measured retrieval, source ranking, answer coverage, citations, abstention, response time, and the amount of extra context sent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“The first major result is that the core RAG pipeline performed consistently. In this test set, all configurations achieved 100% retrieval hit, citation-label inclusion, and correct abstention.</a:t>
            </a:r>
          </a:p>
          <a:p>
            <a:endParaRPr lang="en-CA" dirty="0"/>
          </a:p>
          <a:p>
            <a:r>
              <a:rPr lang="en-CA" dirty="0"/>
              <a:t>The chart below shows more variation in the automated answer score. Fixed top-3 had the highest score at 83.3%, while paragraph top-5 had the lowest at 70.8%.</a:t>
            </a:r>
          </a:p>
          <a:p>
            <a:endParaRPr lang="en-CA" dirty="0"/>
          </a:p>
          <a:p>
            <a:r>
              <a:rPr lang="en-CA" dirty="0"/>
              <a:t>However, this metric was based on strict phrase matching. During manual review, I found that several answers were correct in meaning but used different wording. So I treat this as keyword coverage rather than complete semantic correctness.</a:t>
            </a:r>
          </a:p>
          <a:p>
            <a:endParaRPr lang="en-CA" dirty="0"/>
          </a:p>
          <a:p>
            <a:r>
              <a:rPr lang="en-CA" dirty="0"/>
              <a:t>The main takeaway from this slide is that retrieval and grounding were strong; the larger issue was how answer quality was being measured.”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second result looks at retrieval depth</a:t>
            </a:r>
          </a:p>
          <a:p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One of the clearest findings was that retrieving more chunks did not improve retrieval. Top-3 already found the expected evidence, while top-5 mainly added more unnecessary</a:t>
            </a:r>
          </a:p>
          <a:p>
            <a:r>
              <a:rPr lang="en-CA" dirty="0"/>
              <a:t>For example, with fixed-size chunking, irrelevant context increased from 50% to about 62%, and with paragraph-aware chunking it increased from about 58% to 73%.</a:t>
            </a:r>
          </a:p>
          <a:p>
            <a:endParaRPr lang="en-CA" dirty="0"/>
          </a:p>
          <a:p>
            <a:r>
              <a:rPr lang="en-CA" dirty="0"/>
              <a:t>The response-time differences were relatively small and also affected by external API variability, so I don't treat latency as a strong conclusion here.</a:t>
            </a:r>
          </a:p>
          <a:p>
            <a:endParaRPr lang="en-CA" dirty="0"/>
          </a:p>
          <a:p>
            <a:r>
              <a:rPr lang="en-CA" dirty="0"/>
              <a:t>So my practical recommendation from this experiment is to keep top-k at 3.”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answer evaluation produced another important lesson.</a:t>
            </a:r>
          </a:p>
          <a:p>
            <a:endParaRPr lang="en-CA" dirty="0"/>
          </a:p>
          <a:p>
            <a:r>
              <a:rPr lang="en-CA" dirty="0"/>
              <a:t>I originally used keyword matching because I needed an automated metric that was transparent, easy to reproduce, and consistent across all configurations. .</a:t>
            </a:r>
          </a:p>
          <a:p>
            <a:endParaRPr lang="en-CA" dirty="0"/>
          </a:p>
          <a:p>
            <a:r>
              <a:rPr lang="en-CA" dirty="0"/>
              <a:t>However, during manual review, I found that some answers were being marked wrong even though they were correct in meaning.</a:t>
            </a:r>
          </a:p>
          <a:p>
            <a:endParaRPr lang="en-CA" dirty="0"/>
          </a:p>
          <a:p>
            <a:r>
              <a:rPr lang="en-CA" dirty="0"/>
              <a:t>For example, the expected phrase might contain the abbreviation “RAG,” while the generated answer says “Retrieval-Augmented Generation.”</a:t>
            </a:r>
          </a:p>
          <a:p>
            <a:endParaRPr lang="en-CA" dirty="0"/>
          </a:p>
          <a:p>
            <a:r>
              <a:rPr lang="en-CA" dirty="0"/>
              <a:t>Semantically, those are the same, but a literal phrase-based evaluator may treat them differently.</a:t>
            </a:r>
          </a:p>
          <a:p>
            <a:endParaRPr lang="en-CA" dirty="0"/>
          </a:p>
          <a:p>
            <a:r>
              <a:rPr lang="en-CA" dirty="0"/>
              <a:t>The lesson is future evaluation should include semantic or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This is an academic prototype, so there are some limitations. </a:t>
            </a:r>
          </a:p>
          <a:p>
            <a:endParaRPr lang="en-CA" dirty="0"/>
          </a:p>
          <a:p>
            <a:r>
              <a:rPr lang="en-CA" dirty="0"/>
              <a:t>The evaluation set is small, document support is mainly text-based, and the system does not yet include production features such as authentication, monitoring, or advanced OCR.</a:t>
            </a:r>
          </a:p>
          <a:p>
            <a:endParaRPr lang="en-CA" dirty="0"/>
          </a:p>
          <a:p>
            <a:r>
              <a:rPr lang="en-CA" dirty="0"/>
              <a:t>And finally, response-time measurements were also affected by external API latency, so I would not make strong conclusions based on timing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This project helped me apply concepts from AI, NLP, software engineering, and evaluation.</a:t>
            </a:r>
          </a:p>
          <a:p>
            <a:endParaRPr lang="en-CA" dirty="0"/>
          </a:p>
          <a:p>
            <a:r>
              <a:rPr lang="en-CA" dirty="0"/>
              <a:t> My biggest lesson was that building an AI system is not only about making it work, but also making it explainable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Based on the results, my first recommendation is to keep </a:t>
            </a:r>
            <a:r>
              <a:rPr lang="en-CA" b="1" dirty="0"/>
              <a:t>top-3 retrieval as the current baseline</a:t>
            </a:r>
            <a:r>
              <a:rPr lang="en-CA" dirty="0"/>
              <a:t>.</a:t>
            </a:r>
          </a:p>
          <a:p>
            <a:r>
              <a:rPr lang="en-CA" dirty="0"/>
              <a:t>The second is to improve the evaluation method by adding semantic grading and human review instead of relying mainly on exact phrase matching.</a:t>
            </a:r>
          </a:p>
          <a:p>
            <a:endParaRPr lang="en-CA" dirty="0"/>
          </a:p>
          <a:p>
            <a:r>
              <a:rPr lang="en-CA" dirty="0"/>
              <a:t>Longer term, I would also expand document support and add production-level security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main takeaway is that a useful RAG system should let users verify the path from the document to the retrieved evidence and finally to the answer. </a:t>
            </a:r>
          </a:p>
          <a:p>
            <a:endParaRPr lang="en-CA" b="1" dirty="0"/>
          </a:p>
          <a:p>
            <a:r>
              <a:rPr lang="en-CA" b="1" dirty="0"/>
              <a:t>Trustworthy AI needs evidence, not just fluent text.</a:t>
            </a:r>
          </a:p>
          <a:p>
            <a:endParaRPr lang="en-CA" b="1" dirty="0"/>
          </a:p>
          <a:p>
            <a:r>
              <a:rPr lang="en-CA" dirty="0"/>
              <a:t> Thank you, and</a:t>
            </a:r>
          </a:p>
          <a:p>
            <a:endParaRPr lang="en-CA" dirty="0"/>
          </a:p>
          <a:p>
            <a:r>
              <a:rPr lang="en-CA" dirty="0"/>
              <a:t> I’m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47104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My Documents | Transparent RAG Evaluation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0" y="109728"/>
            <a:ext cx="12191695" cy="6858000"/>
          </a:xfrm>
          <a:prstGeom prst="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My Documents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713232" y="18745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FE"/>
                </a:solidFill>
              </a:rPr>
              <a:t>Transparent RAG for Uploaded Documents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5146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</a:rPr>
              <a:t>A document Q&amp;A prototype that retrieves evidence first, answers from the uploaded files, and shows sources for verification.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703320"/>
            <a:ext cx="384048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Student: Emem Usoh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Supervisor: Professor Dongyu Qiu</a:t>
            </a:r>
            <a:endParaRPr lang="en-US" sz="1350" dirty="0"/>
          </a:p>
          <a:p>
            <a:r>
              <a:rPr lang="en-US" sz="1350" dirty="0">
                <a:solidFill>
                  <a:srgbClr val="E2E8F0"/>
                </a:solidFill>
              </a:rPr>
              <a:t>ENGR 6971: Project and Report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141732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0B1220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753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Presentation focus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7532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• </a:t>
            </a:r>
            <a:r>
              <a:rPr lang="en-US" sz="1350" dirty="0">
                <a:solidFill>
                  <a:srgbClr val="E2E8F0"/>
                </a:solidFill>
              </a:rPr>
              <a:t>Why the project matters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75320" y="2788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• </a:t>
            </a:r>
            <a:r>
              <a:rPr lang="en-US" sz="1350" dirty="0">
                <a:solidFill>
                  <a:srgbClr val="E2E8F0"/>
                </a:solidFill>
              </a:rPr>
              <a:t>How the RAG system works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• </a:t>
            </a:r>
            <a:r>
              <a:rPr lang="en-US" sz="1350" dirty="0">
                <a:solidFill>
                  <a:srgbClr val="E2E8F0"/>
                </a:solidFill>
              </a:rPr>
              <a:t>Evaluation results and lessons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75320" y="3703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• </a:t>
            </a:r>
            <a:r>
              <a:rPr lang="en-US" sz="1350" dirty="0">
                <a:solidFill>
                  <a:srgbClr val="E2E8F0"/>
                </a:solidFill>
              </a:rPr>
              <a:t>Recommendations for next steps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for the presentation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15-minute overview of the problem, build, evaluation, and recommendations.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566928" cy="56692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6488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90472" y="1700784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" y="2587751"/>
            <a:ext cx="2075076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Why normal chatbots are risky for private document Q&amp;A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90672" y="1417320"/>
            <a:ext cx="566928" cy="566928"/>
          </a:xfrm>
          <a:prstGeom prst="ellipse">
            <a:avLst/>
          </a:prstGeom>
          <a:solidFill>
            <a:srgbClr val="0F766E"/>
          </a:solidFill>
          <a:ln w="1524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78480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12464" y="1700784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70632" y="22585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05456" y="2587751"/>
            <a:ext cx="2075076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What I implemented and how the RAG pipeline works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12664" y="1417320"/>
            <a:ext cx="566928" cy="566928"/>
          </a:xfrm>
          <a:prstGeom prst="ellipse">
            <a:avLst/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0472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34456" y="1700784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92624" y="22585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27448" y="2587751"/>
            <a:ext cx="2075076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How I tested chunking, retrieval depth, citations, and abstention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34656" y="1417320"/>
            <a:ext cx="566928" cy="566928"/>
          </a:xfrm>
          <a:prstGeom prst="ellipse">
            <a:avLst/>
          </a:prstGeom>
          <a:solidFill>
            <a:srgbClr val="B7791F"/>
          </a:solidFill>
          <a:ln w="1524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22464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56448" y="1700784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4616" y="22585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Results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2587751"/>
            <a:ext cx="2075076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What worked, what was noisy, and what the numbers mean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56648" y="1417320"/>
            <a:ext cx="566928" cy="566928"/>
          </a:xfrm>
          <a:prstGeom prst="ellipse">
            <a:avLst/>
          </a:prstGeom>
          <a:solidFill>
            <a:srgbClr val="10B981"/>
          </a:solidFill>
          <a:ln w="1524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44456" y="1591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36608" y="22585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Lessons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71432" y="2587751"/>
            <a:ext cx="2075076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Skills developed, limitations, and next steps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069080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" y="41239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Presentation outcome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4709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CA" sz="2400" dirty="0"/>
              <a:t>By the end, you’ll see why this project focuses on making AI answers from documents transparent, traceable, and easy to verify.</a:t>
            </a:r>
            <a:endParaRPr lang="en-US" sz="2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main reason for the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Regular chatbots can sound confident without using the user’s actual documents.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The core problem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71800" y="324612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324612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5256" y="2404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826"/>
                </a:solidFill>
              </a:rPr>
              <a:t>Uploaded documents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Private, recent, policy-heavy, or only available inside files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874520"/>
            <a:ext cx="2971800" cy="2697480"/>
          </a:xfrm>
          <a:prstGeom prst="roundRect">
            <a:avLst>
              <a:gd name="adj" fmla="val 2712"/>
            </a:avLst>
          </a:prstGeom>
          <a:solidFill>
            <a:srgbClr val="FEE2E2"/>
          </a:solidFill>
          <a:ln w="8890">
            <a:solidFill>
              <a:srgbClr val="FCA5A5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Black-box answer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90779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1826"/>
                </a:solidFill>
              </a:rPr>
              <a:t>Fluent answer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21826"/>
                </a:solidFill>
              </a:rPr>
              <a:t>≠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21826"/>
                </a:solidFill>
              </a:rPr>
              <a:t>verified answer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281160" y="205740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D1FAE5"/>
          </a:solidFill>
          <a:ln w="8890">
            <a:solidFill>
              <a:srgbClr val="A7F3D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55480" y="2404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Transparent RAG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64624" y="295351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Search first, answer from evidence, show citations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971288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50261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Project purpose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5519927"/>
            <a:ext cx="10789920" cy="53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21826"/>
                </a:solidFill>
              </a:rPr>
              <a:t>Build and evaluate a small configurable system where chunking, retrieval ranking, relevance thresholds, and citations are visible and measurable.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and research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project measured the design choices that make RAG answers trustworthy.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3794760" cy="4407408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Project aim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Design, implement, and evaluate a document question-answering system that answers only from retrieved uploaded-document evidence.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3401568"/>
            <a:ext cx="3154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Working prototype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Source-grounded answers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489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Citations for checking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Evaluation evidence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1325880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43560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RQ1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06440" y="1344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Chunking strategy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06440" y="1764792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Does fixed-size or paragraph-aware chunking improve retrieval and answer quality?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0" y="2395728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752344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8620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RQ2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6440" y="2770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Retrieval depth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06440" y="3191256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Does top-3 or top-5 retrieval produce better answers with less noise?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3822192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3480" y="4178808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42885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RQ3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06440" y="41970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Abstention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06440" y="4617720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Can the system refuse unsupported questions when documents do not contain the answer?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built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local, inspectable RAG prototype and evaluation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280160"/>
            <a:ext cx="438912" cy="438912"/>
          </a:xfrm>
          <a:prstGeom prst="hexagon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Streamlit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63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Upload documents, process chunks, ask questions, view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148840"/>
            <a:ext cx="438912" cy="438912"/>
          </a:xfrm>
          <a:prstGeom prst="hexagon">
            <a:avLst/>
          </a:prstGeom>
          <a:solidFill>
            <a:srgbClr val="0F766E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Document 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32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TXT, PDF, DOCX extraction with source metadata.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017520"/>
            <a:ext cx="438912" cy="438912"/>
          </a:xfrm>
          <a:prstGeom prst="hexagon">
            <a:avLst/>
          </a:prstGeom>
          <a:solidFill>
            <a:srgbClr val="7C3AED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Retrieval logic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300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Embeddings, vector search, top-k ranking, threshold filtering.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3886200"/>
            <a:ext cx="438912" cy="438912"/>
          </a:xfrm>
          <a:prstGeom prst="hexagon">
            <a:avLst/>
          </a:prstGeom>
          <a:solidFill>
            <a:srgbClr val="B7791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Grounded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69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Prompt forces answers to use retrieved passages and citations.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4754880"/>
            <a:ext cx="438912" cy="438912"/>
          </a:xfrm>
          <a:prstGeom prst="hexagon">
            <a:avLst/>
          </a:prstGeom>
          <a:solidFill>
            <a:srgbClr val="10B98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Evaluation harness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38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Runs test questions across configurations and writes audit CSVs.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114300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/mnt/data/Screenshot 2026-08-01 at 6.22.35 PM.png"/>
          <p:cNvPicPr>
            <a:picLocks noChangeAspect="1"/>
          </p:cNvPicPr>
          <p:nvPr/>
        </p:nvPicPr>
        <p:blipFill>
          <a:blip r:embed="rId3"/>
          <a:srcRect l="22000" r="-19656"/>
          <a:stretch/>
        </p:blipFill>
        <p:spPr>
          <a:xfrm>
            <a:off x="6986016" y="1179576"/>
            <a:ext cx="4270248" cy="40873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692640" y="4956048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765792" y="5024628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</a:rPr>
              <a:t>prototype UI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566928" y="5489448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" y="5544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My </a:t>
            </a:r>
            <a:r>
              <a:rPr lang="en-US" sz="1400" b="1" dirty="0">
                <a:solidFill>
                  <a:srgbClr val="0F766E"/>
                </a:solidFill>
              </a:rPr>
              <a:t>contribution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9808" y="5983224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I reused appropriate tools for document parsing, embeddings, vector storage, and generation, while implementing the project-specific workflow: chunking, metadata, retrieval filtering, citation display, and evaluation.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question goes through retrieval before the language model generates an answer.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2064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1938528"/>
            <a:ext cx="15087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PDF / DOCX / TXT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05584" y="2441448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1938528"/>
            <a:ext cx="15087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32888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Extract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Text + source metadata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16680" y="2441448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34256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34256" y="1938528"/>
            <a:ext cx="15087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43984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Chunk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Fixed or paragraph-aware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27776" y="2441448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45352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B7791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45352" y="1938528"/>
            <a:ext cx="1508760" cy="10972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Embed &amp; index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Vector search in Pinecone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38872" y="2441448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56448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56448" y="1938528"/>
            <a:ext cx="1508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66176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Retrieve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6176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Top-k + threshold filter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49968" y="2441448"/>
            <a:ext cx="47548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67544" y="1938528"/>
            <a:ext cx="1508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67544" y="1938528"/>
            <a:ext cx="1508760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77272" y="209397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26"/>
                </a:solidFill>
              </a:rPr>
              <a:t>Generate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77272" y="250545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Grounded answer + citations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97880" y="3319272"/>
            <a:ext cx="0" cy="91440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71800" y="434340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D1FAE5"/>
          </a:solidFill>
          <a:ln w="8890">
            <a:solidFill>
              <a:srgbClr val="A7F3D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46120" y="46451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Trust layer: citations + visible retrieved passages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46120" y="502005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The user can inspect which document section supported the answer.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Interface: transparency in practice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prototype shows both the answer and the evidence that produced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Screenshot 2026-08-01 at 6.25.50 PM.png"/>
          <p:cNvPicPr>
            <a:picLocks noChangeAspect="1"/>
          </p:cNvPicPr>
          <p:nvPr/>
        </p:nvPicPr>
        <p:blipFill>
          <a:blip r:embed="rId3"/>
          <a:srcRect l="18000" t="5000" r="-12458" b="15000"/>
          <a:stretch/>
        </p:blipFill>
        <p:spPr>
          <a:xfrm>
            <a:off x="722376" y="1179576"/>
            <a:ext cx="5047488" cy="3995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143000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Screenshot 2026-08-01 at 6.32.06 PM.png"/>
          <p:cNvPicPr>
            <a:picLocks noChangeAspect="1"/>
          </p:cNvPicPr>
          <p:nvPr/>
        </p:nvPicPr>
        <p:blipFill>
          <a:blip r:embed="rId4"/>
          <a:srcRect l="10000" t="10000" r="44728" b="20000"/>
          <a:stretch/>
        </p:blipFill>
        <p:spPr>
          <a:xfrm>
            <a:off x="6300216" y="1179576"/>
            <a:ext cx="5138928" cy="3995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826"/>
                </a:solidFill>
              </a:rPr>
              <a:t>Chunk preview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955280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826"/>
                </a:solidFill>
              </a:rPr>
              <a:t>Answer + displayed sources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5833872"/>
            <a:ext cx="640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49808" y="58887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What the audience should notice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9808" y="62910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app is designed to make retrieval visible: users can review chunks, similarity scores, source labels, and passages sent to the LLM.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evaluation compared chunking and retrieval-depth settings across a prepared question 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9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41832" y="18470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corpus documents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07792" y="12344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54096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766E"/>
                </a:solidFill>
              </a:rPr>
              <a:t>30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072384" y="18470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evaluation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38344" y="12344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84648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</a:rPr>
              <a:t>4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202936" y="18470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configurations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8896" y="12344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7791F"/>
                </a:solidFill>
              </a:rPr>
              <a:t>120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333488" y="18470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main result rows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99448" y="12344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45752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B981"/>
                </a:solidFill>
              </a:rPr>
              <a:t>480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464040" y="18470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retrieved chunk rows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2880360"/>
            <a:ext cx="4754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3272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Experiment matrix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33272" y="3639311"/>
            <a:ext cx="1609344" cy="315757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69848" y="3707891"/>
            <a:ext cx="1527858" cy="10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826"/>
                </a:solidFill>
              </a:rPr>
              <a:t>Chunking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3639312"/>
            <a:ext cx="987552" cy="355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42616" y="3707892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826"/>
                </a:solidFill>
              </a:rPr>
              <a:t>Top-k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02736" y="3639312"/>
            <a:ext cx="1920240" cy="28346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39312" y="3744468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826"/>
                </a:solidFill>
              </a:rPr>
              <a:t>Configuration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3272" y="3922775"/>
            <a:ext cx="1609344" cy="315757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9848" y="3991355"/>
            <a:ext cx="1527858" cy="10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Fixed-size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06040" y="3922776"/>
            <a:ext cx="987552" cy="5566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74264" y="3991356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02736" y="3922776"/>
            <a:ext cx="1920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9312" y="3991356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fixed_top_3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33272" y="4206239"/>
            <a:ext cx="1609344" cy="315757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69848" y="4274819"/>
            <a:ext cx="1527858" cy="10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Fixed-size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06040" y="4206240"/>
            <a:ext cx="987552" cy="5566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74264" y="427482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02736" y="4206240"/>
            <a:ext cx="1920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39312" y="4274820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fixed_top_5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33272" y="4489703"/>
            <a:ext cx="1609344" cy="315757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69848" y="4558283"/>
            <a:ext cx="1527858" cy="10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Paragraph-aware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06040" y="4489704"/>
            <a:ext cx="987552" cy="5566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874264" y="4558284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02736" y="4489704"/>
            <a:ext cx="1920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39312" y="4558284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paragraph_top_3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33272" y="4773167"/>
            <a:ext cx="1609344" cy="315757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9848" y="4841747"/>
            <a:ext cx="1527858" cy="10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Paragraph-aware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606040" y="4773168"/>
            <a:ext cx="987552" cy="3417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74264" y="4841748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5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02736" y="4773168"/>
            <a:ext cx="1920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39312" y="4841748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1826"/>
                </a:solidFill>
              </a:rPr>
              <a:t>paragraph_top_5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989320" y="288036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45352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Core metrics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245352" y="36941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Retrieval hit: expected source sent to the model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45352" y="4096512"/>
            <a:ext cx="4809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Citation correctness: answer cites displayed source labels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245352" y="4498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Abstention: refuses unsupported questions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245352" y="49011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Context noise: non-gold chunks sent to LLM</a:t>
            </a:r>
            <a:endParaRPr lang="en-US" sz="14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1: the core RAG loop worked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Retrieval, citations, and abstention were strong across every configuration.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DBEAFE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39903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100%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33272" y="18470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expected-source retrieval on answerable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D1FAE5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72584" y="139903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766E"/>
                </a:solidFill>
              </a:rPr>
              <a:t>100%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690872" y="18470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citation correctness on answerable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EDE9FE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0184" y="139903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</a:rPr>
              <a:t>100%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48472" y="18470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correct abstention on unsupported questions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mnt/data/answer_correctness_by_config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5" y="2825496"/>
            <a:ext cx="4924851" cy="299008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37960" y="2788920"/>
            <a:ext cx="48006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826"/>
                </a:solidFill>
              </a:rPr>
              <a:t>Interpretation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858000" y="3730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All configurations found the right evidence.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The answer score gap came mainly from strict keyword grading.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47365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• </a:t>
            </a:r>
            <a:r>
              <a:rPr lang="en-US" sz="1400" dirty="0">
                <a:solidFill>
                  <a:srgbClr val="121826"/>
                </a:solidFill>
              </a:rPr>
              <a:t>The safest practical choice is top-3 retrieval with citation checking.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376672"/>
            <a:ext cx="3886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0" y="5559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Important: answer correctness here is an exact-phrase metric, not a full human semantic grade.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2: more chunks did not mean better answers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Top-5 retrieval added context, but mostly added noise.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irrelevant_context_by_config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280813"/>
            <a:ext cx="4681728" cy="28424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70432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average_response_time_by_configu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1280813"/>
            <a:ext cx="4681728" cy="28424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" y="4572000"/>
            <a:ext cx="9738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005840" y="4837176"/>
            <a:ext cx="20574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Practical lesson: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337560" y="4765548"/>
            <a:ext cx="740664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21826"/>
                </a:solidFill>
              </a:rPr>
              <a:t>When top-3 already retrieves the expected source, top-5 often increases irrelevant context without improving the final answer.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526280" y="5815584"/>
            <a:ext cx="2468880" cy="301752"/>
          </a:xfrm>
          <a:prstGeom prst="roundRect">
            <a:avLst>
              <a:gd name="adj" fmla="val 2424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99432" y="5884164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66E"/>
                </a:solidFill>
              </a:rPr>
              <a:t>Recommendation: keep top_k = 3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analysis: the evaluator was too literal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Several “wrong” answers were semantically acceptable but failed exact-phrase matching.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07008"/>
            <a:ext cx="10744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572768"/>
            <a:ext cx="256032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24712" y="167335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</a:rPr>
              <a:t>Expected phrase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0" y="1572768"/>
            <a:ext cx="47091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867912" y="1673352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</a:rPr>
              <a:t>Generated answer meaning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32520" y="1572768"/>
            <a:ext cx="224028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805672" y="1673352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</a:rPr>
              <a:t>Why it failed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011680"/>
            <a:ext cx="2560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124712" y="21122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“small configurable RAG system”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2011680"/>
            <a:ext cx="4709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867912" y="2112264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“small configurable Retrieval-Augmented Generation system”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2240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8805672" y="211226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abbreviation expansion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2450592"/>
            <a:ext cx="2560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124712" y="25511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“safe; healthful; working conditions”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2450592"/>
            <a:ext cx="4709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867912" y="2551176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“safe and healthful workplace”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32520" y="2450592"/>
            <a:ext cx="2240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805672" y="255117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synonym / wording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2889504"/>
            <a:ext cx="2560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1124712" y="299008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“file a complaint; on-site inspection”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94760" y="2889504"/>
            <a:ext cx="4709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3867912" y="2990088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“file a written complaint with OSHA and ask OSHA to inspect”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32520" y="2889504"/>
            <a:ext cx="2240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805672" y="299008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word order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51560" y="3328416"/>
            <a:ext cx="2560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124712" y="3429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“once every 12 months”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94760" y="3328416"/>
            <a:ext cx="4709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3867912" y="3429000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“one free report per 12 months”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732520" y="3328416"/>
            <a:ext cx="2240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8805672" y="3429000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21826"/>
                </a:solidFill>
              </a:rPr>
              <a:t>equivalent phrase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51560" y="4133088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15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What this means: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063240" y="4398264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21826"/>
                </a:solidFill>
              </a:rPr>
              <a:t>The strict answer metric is useful for repeatability, but it undercounts reasonable answers. Future evaluation should use semantic grading plus human review.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6928" y="5532120"/>
            <a:ext cx="64008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" y="5586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791F"/>
                </a:solidFill>
              </a:rPr>
              <a:t>Conclusion from the audit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" y="60076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</a:rPr>
              <a:t>The system’s main failure was not retrieval. The main improvement area is evaluation quality and answer conciseness.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The prototype is useful, but it is not a production document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C2626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21826"/>
                </a:solidFill>
              </a:rPr>
              <a:t>Evaluation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3337560" y="1243584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Keyword scoring missed semantically correct answers.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B7791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21826"/>
                </a:solidFill>
              </a:rPr>
              <a:t>Scope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Text-based documents only; no OCR, scanned PDFs, complex tables, or diagrams.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980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761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21826"/>
                </a:solidFill>
              </a:rPr>
              <a:t>Generalization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3337560" y="2779776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30 questions are enough for a prototype, not for broad statistical claims.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35295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21826"/>
                </a:solidFill>
              </a:rPr>
              <a:t>Latency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3337560" y="354787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API response times varied, so single-run timing is noisy.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342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F766E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21826"/>
                </a:solidFill>
              </a:rPr>
              <a:t>Deployment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3337560" y="43159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No user accounts, access control, monitoring, or production hardening.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54864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8890">
            <a:solidFill>
              <a:srgbClr val="FCD34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5705856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826"/>
                </a:solidFill>
              </a:rPr>
              <a:t>These limitations are also the roadmap for future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 and professional development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work connected academic concepts to a practical AI system.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61772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4712" y="1673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NLP + RAG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4712" y="21122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Applied embeddings, retrieval ranking, chunking, and grounded prompting.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461772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5664" y="1673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Software engineering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55664" y="21122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Built modular Python components and a Streamlit interface.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461772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</a:rPr>
              <a:t>Evaluation mindset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24712" y="43982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Designed metrics, test questions, CSV outputs, and error analysis.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9632" y="3703320"/>
            <a:ext cx="461772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8890">
            <a:solidFill>
              <a:srgbClr val="DDE5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55664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791F"/>
                </a:solidFill>
              </a:rPr>
              <a:t>Responsible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55664" y="43982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Focused on source visibility, abstention, and avoiding unsupported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future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The prototype is ready for deeper validation and refinement.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44168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81328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Use top-3 as the 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122529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It retrieved expected evidence while sending less noisy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81328" y="2057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Improve grading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07568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Add semantic or human rubric scoring for factual correctness.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93522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44952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81328" y="2907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Tune adaptively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92608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Raise or lower top-k based on confidence and source-score margin.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785616"/>
            <a:ext cx="420624" cy="42062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89534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81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Expand document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377647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Add OCR, tables, diagrams, and more varied documents.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63600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745736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81328" y="4608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26"/>
                </a:solidFill>
              </a:rPr>
              <a:t>Prepare for 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62686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Add authentication, logging, privacy controls, and monitoring.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B981"/>
                </a:solidFill>
              </a:rPr>
              <a:t>Final takeaway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My Documents shows that a RAG system is most valuable when users can verify the path from document → retrieved evidence → cited answer.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457200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Thank you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BD5E1"/>
                </a:solidFill>
              </a:rPr>
              <a:t>Questions?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949440" y="38862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418795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B981"/>
                </a:solidFill>
              </a:rPr>
              <a:t>One-line message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6948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</a:rPr>
              <a:t>Trustworthy AI needs evidence, not just fluent text.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24712</TotalTime>
  <Words>2459</Words>
  <Application>Microsoft Macintosh PowerPoint</Application>
  <PresentationFormat>Widescreen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My Documents: Transparent RAG for Uploaded Documents</dc:title>
  <dc:subject>Ask My Documents Final Presentation</dc:subject>
  <dc:creator>OpenAI</dc:creator>
  <cp:lastModifiedBy>Emem Usoh</cp:lastModifiedBy>
  <cp:revision>3</cp:revision>
  <dcterms:created xsi:type="dcterms:W3CDTF">2026-08-02T01:37:25Z</dcterms:created>
  <dcterms:modified xsi:type="dcterms:W3CDTF">2026-08-19T05:31:03Z</dcterms:modified>
</cp:coreProperties>
</file>